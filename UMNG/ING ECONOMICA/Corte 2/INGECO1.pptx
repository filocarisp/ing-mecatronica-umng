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345" r:id="rId6"/>
    <p:sldId id="355" r:id="rId7"/>
    <p:sldId id="346" r:id="rId8"/>
    <p:sldId id="356" r:id="rId9"/>
    <p:sldId id="357" r:id="rId10"/>
    <p:sldId id="358" r:id="rId11"/>
    <p:sldId id="359" r:id="rId12"/>
    <p:sldId id="360" r:id="rId13"/>
    <p:sldId id="361" r:id="rId14"/>
    <p:sldId id="259" r:id="rId15"/>
  </p:sldIdLst>
  <p:sldSz cx="13681075" cy="7921625"/>
  <p:notesSz cx="6858000" cy="9144000"/>
  <p:defaultTextStyle>
    <a:defPPr>
      <a:defRPr lang="en-US"/>
    </a:defPPr>
    <a:lvl1pPr marL="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722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3444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5166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6888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8610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70332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32054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937760" algn="l" defTabSz="123444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5">
          <p15:clr>
            <a:srgbClr val="A4A3A4"/>
          </p15:clr>
        </p15:guide>
        <p15:guide id="2" pos="430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ca Palacios" initials="AP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99FF"/>
    <a:srgbClr val="3399FF"/>
    <a:srgbClr val="33CCCC"/>
    <a:srgbClr val="969696"/>
    <a:srgbClr val="33CCFF"/>
    <a:srgbClr val="99FFCC"/>
    <a:srgbClr val="CCFFCC"/>
    <a:srgbClr val="4D5B8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D2E079-85FC-4F62-9650-6D0A97BC9904}" v="34" dt="2025-08-30T00:47:15.4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39" autoAdjust="0"/>
    <p:restoredTop sz="86757" autoAdjust="0"/>
  </p:normalViewPr>
  <p:slideViewPr>
    <p:cSldViewPr>
      <p:cViewPr varScale="1">
        <p:scale>
          <a:sx n="97" d="100"/>
          <a:sy n="97" d="100"/>
        </p:scale>
        <p:origin x="688" y="208"/>
      </p:cViewPr>
      <p:guideLst>
        <p:guide orient="horz" pos="2495"/>
        <p:guide pos="43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F04D6-F2E9-42B5-8AC2-DF20326E6314}" type="datetimeFigureOut">
              <a:rPr lang="es-CO" smtClean="0"/>
              <a:pPr/>
              <a:t>29/08/25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63588" y="1143000"/>
            <a:ext cx="533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DC8C2-87C0-4F1C-B2D8-D91592B3EE5E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236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026081" y="2460839"/>
            <a:ext cx="11628914" cy="169801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052161" y="4488921"/>
            <a:ext cx="9576753" cy="202441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86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03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37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4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80711" y="5090378"/>
            <a:ext cx="11628914" cy="1573323"/>
          </a:xfrm>
        </p:spPr>
        <p:txBody>
          <a:bodyPr anchor="t"/>
          <a:lstStyle>
            <a:lvl1pPr algn="l">
              <a:defRPr sz="54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80711" y="3357523"/>
            <a:ext cx="11628914" cy="1732855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722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3444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8516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688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861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7033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3205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9377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23707" y="2134438"/>
            <a:ext cx="9096965" cy="604023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0348690" y="2134438"/>
            <a:ext cx="9096965" cy="604023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55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4054" y="317232"/>
            <a:ext cx="12312968" cy="1320271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4054" y="1773198"/>
            <a:ext cx="6044851" cy="73898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7220" indent="0">
              <a:buNone/>
              <a:defRPr sz="2700" b="1"/>
            </a:lvl2pPr>
            <a:lvl3pPr marL="1234440" indent="0">
              <a:buNone/>
              <a:defRPr sz="2400" b="1"/>
            </a:lvl3pPr>
            <a:lvl4pPr marL="1851660" indent="0">
              <a:buNone/>
              <a:defRPr sz="2200" b="1"/>
            </a:lvl4pPr>
            <a:lvl5pPr marL="2468880" indent="0">
              <a:buNone/>
              <a:defRPr sz="2200" b="1"/>
            </a:lvl5pPr>
            <a:lvl6pPr marL="3086100" indent="0">
              <a:buNone/>
              <a:defRPr sz="2200" b="1"/>
            </a:lvl6pPr>
            <a:lvl7pPr marL="3703320" indent="0">
              <a:buNone/>
              <a:defRPr sz="2200" b="1"/>
            </a:lvl7pPr>
            <a:lvl8pPr marL="4320540" indent="0">
              <a:buNone/>
              <a:defRPr sz="2200" b="1"/>
            </a:lvl8pPr>
            <a:lvl9pPr marL="4937760" indent="0">
              <a:buNone/>
              <a:defRPr sz="2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84054" y="2512182"/>
            <a:ext cx="6044851" cy="456410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949797" y="1773198"/>
            <a:ext cx="6047225" cy="73898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17220" indent="0">
              <a:buNone/>
              <a:defRPr sz="2700" b="1"/>
            </a:lvl2pPr>
            <a:lvl3pPr marL="1234440" indent="0">
              <a:buNone/>
              <a:defRPr sz="2400" b="1"/>
            </a:lvl3pPr>
            <a:lvl4pPr marL="1851660" indent="0">
              <a:buNone/>
              <a:defRPr sz="2200" b="1"/>
            </a:lvl4pPr>
            <a:lvl5pPr marL="2468880" indent="0">
              <a:buNone/>
              <a:defRPr sz="2200" b="1"/>
            </a:lvl5pPr>
            <a:lvl6pPr marL="3086100" indent="0">
              <a:buNone/>
              <a:defRPr sz="2200" b="1"/>
            </a:lvl6pPr>
            <a:lvl7pPr marL="3703320" indent="0">
              <a:buNone/>
              <a:defRPr sz="2200" b="1"/>
            </a:lvl7pPr>
            <a:lvl8pPr marL="4320540" indent="0">
              <a:buNone/>
              <a:defRPr sz="2200" b="1"/>
            </a:lvl8pPr>
            <a:lvl9pPr marL="4937760" indent="0">
              <a:buNone/>
              <a:defRPr sz="2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949797" y="2512182"/>
            <a:ext cx="6047225" cy="4564104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0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6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4055" y="315398"/>
            <a:ext cx="4500979" cy="1342275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48920" y="315399"/>
            <a:ext cx="7648101" cy="6760887"/>
          </a:xfrm>
        </p:spPr>
        <p:txBody>
          <a:bodyPr/>
          <a:lstStyle>
            <a:lvl1pPr>
              <a:defRPr sz="4300"/>
            </a:lvl1pPr>
            <a:lvl2pPr>
              <a:defRPr sz="38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84055" y="1657674"/>
            <a:ext cx="4500979" cy="5418612"/>
          </a:xfrm>
        </p:spPr>
        <p:txBody>
          <a:bodyPr/>
          <a:lstStyle>
            <a:lvl1pPr marL="0" indent="0">
              <a:buNone/>
              <a:defRPr sz="1900"/>
            </a:lvl1pPr>
            <a:lvl2pPr marL="617220" indent="0">
              <a:buNone/>
              <a:defRPr sz="1600"/>
            </a:lvl2pPr>
            <a:lvl3pPr marL="1234440" indent="0">
              <a:buNone/>
              <a:defRPr sz="1400"/>
            </a:lvl3pPr>
            <a:lvl4pPr marL="1851660" indent="0">
              <a:buNone/>
              <a:defRPr sz="1200"/>
            </a:lvl4pPr>
            <a:lvl5pPr marL="2468880" indent="0">
              <a:buNone/>
              <a:defRPr sz="1200"/>
            </a:lvl5pPr>
            <a:lvl6pPr marL="3086100" indent="0">
              <a:buNone/>
              <a:defRPr sz="1200"/>
            </a:lvl6pPr>
            <a:lvl7pPr marL="3703320" indent="0">
              <a:buNone/>
              <a:defRPr sz="1200"/>
            </a:lvl7pPr>
            <a:lvl8pPr marL="4320540" indent="0">
              <a:buNone/>
              <a:defRPr sz="1200"/>
            </a:lvl8pPr>
            <a:lvl9pPr marL="4937760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6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681586" y="5545137"/>
            <a:ext cx="8208645" cy="654635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681586" y="707812"/>
            <a:ext cx="8208645" cy="4752975"/>
          </a:xfrm>
        </p:spPr>
        <p:txBody>
          <a:bodyPr/>
          <a:lstStyle>
            <a:lvl1pPr marL="0" indent="0">
              <a:buNone/>
              <a:defRPr sz="4300"/>
            </a:lvl1pPr>
            <a:lvl2pPr marL="617220" indent="0">
              <a:buNone/>
              <a:defRPr sz="3800"/>
            </a:lvl2pPr>
            <a:lvl3pPr marL="1234440" indent="0">
              <a:buNone/>
              <a:defRPr sz="3200"/>
            </a:lvl3pPr>
            <a:lvl4pPr marL="1851660" indent="0">
              <a:buNone/>
              <a:defRPr sz="2700"/>
            </a:lvl4pPr>
            <a:lvl5pPr marL="2468880" indent="0">
              <a:buNone/>
              <a:defRPr sz="2700"/>
            </a:lvl5pPr>
            <a:lvl6pPr marL="3086100" indent="0">
              <a:buNone/>
              <a:defRPr sz="2700"/>
            </a:lvl6pPr>
            <a:lvl7pPr marL="3703320" indent="0">
              <a:buNone/>
              <a:defRPr sz="2700"/>
            </a:lvl7pPr>
            <a:lvl8pPr marL="4320540" indent="0">
              <a:buNone/>
              <a:defRPr sz="2700"/>
            </a:lvl8pPr>
            <a:lvl9pPr marL="4937760" indent="0">
              <a:buNone/>
              <a:defRPr sz="27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681586" y="6199772"/>
            <a:ext cx="8208645" cy="929690"/>
          </a:xfrm>
        </p:spPr>
        <p:txBody>
          <a:bodyPr/>
          <a:lstStyle>
            <a:lvl1pPr marL="0" indent="0">
              <a:buNone/>
              <a:defRPr sz="1900"/>
            </a:lvl1pPr>
            <a:lvl2pPr marL="617220" indent="0">
              <a:buNone/>
              <a:defRPr sz="1600"/>
            </a:lvl2pPr>
            <a:lvl3pPr marL="1234440" indent="0">
              <a:buNone/>
              <a:defRPr sz="1400"/>
            </a:lvl3pPr>
            <a:lvl4pPr marL="1851660" indent="0">
              <a:buNone/>
              <a:defRPr sz="1200"/>
            </a:lvl4pPr>
            <a:lvl5pPr marL="2468880" indent="0">
              <a:buNone/>
              <a:defRPr sz="1200"/>
            </a:lvl5pPr>
            <a:lvl6pPr marL="3086100" indent="0">
              <a:buNone/>
              <a:defRPr sz="1200"/>
            </a:lvl6pPr>
            <a:lvl7pPr marL="3703320" indent="0">
              <a:buNone/>
              <a:defRPr sz="1200"/>
            </a:lvl7pPr>
            <a:lvl8pPr marL="4320540" indent="0">
              <a:buNone/>
              <a:defRPr sz="1200"/>
            </a:lvl8pPr>
            <a:lvl9pPr marL="4937760" indent="0">
              <a:buNone/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2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4840167" y="366742"/>
            <a:ext cx="4605488" cy="78079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023707" y="366742"/>
            <a:ext cx="13588442" cy="780793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2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84054" y="317232"/>
            <a:ext cx="12312968" cy="1320271"/>
          </a:xfrm>
          <a:prstGeom prst="rect">
            <a:avLst/>
          </a:prstGeom>
        </p:spPr>
        <p:txBody>
          <a:bodyPr vert="horz" lIns="123444" tIns="61722" rIns="123444" bIns="61722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4054" y="1848380"/>
            <a:ext cx="12312968" cy="5227906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84054" y="7342173"/>
            <a:ext cx="3192251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AF815-7484-4C24-B8EC-E5B83B21B60A}" type="datetimeFigureOut">
              <a:rPr lang="en-US" smtClean="0"/>
              <a:pPr/>
              <a:t>8/29/25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674368" y="7342173"/>
            <a:ext cx="4332340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804770" y="7342173"/>
            <a:ext cx="3192251" cy="421753"/>
          </a:xfrm>
          <a:prstGeom prst="rect">
            <a:avLst/>
          </a:prstGeom>
        </p:spPr>
        <p:txBody>
          <a:bodyPr vert="horz" lIns="123444" tIns="61722" rIns="123444" bIns="61722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B55AF-B816-45E5-9F27-B43BA6917C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3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3444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2915" indent="-462915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1002983" indent="-385763" algn="l" defTabSz="12344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4305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7749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9471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1193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2915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246370" indent="-308610" algn="l" defTabSz="12344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5166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8610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70332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937760" algn="l" defTabSz="12344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6707187" y="3744788"/>
            <a:ext cx="669674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Filocaris Triana Pinzón  7003936 </a:t>
            </a:r>
          </a:p>
          <a:p>
            <a:pPr algn="r"/>
            <a:endParaRPr lang="es-CO" sz="36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2376041" y="864468"/>
            <a:ext cx="889298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spcAft>
                <a:spcPts val="1500"/>
              </a:spcAft>
            </a:pPr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 Técnica y Legal de un Proyecto</a:t>
            </a:r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287809" y="2664668"/>
            <a:ext cx="592359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Económica</a:t>
            </a:r>
          </a:p>
          <a:p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en Mecatronica</a:t>
            </a:r>
          </a:p>
          <a:p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4672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969" y="969344"/>
            <a:ext cx="11520000" cy="257707"/>
          </a:xfrm>
          <a:prstGeom prst="rect">
            <a:avLst/>
          </a:prstGeom>
        </p:spPr>
      </p:pic>
      <p:sp>
        <p:nvSpPr>
          <p:cNvPr id="5" name="3 CuadroTexto"/>
          <p:cNvSpPr txBox="1"/>
          <p:nvPr/>
        </p:nvSpPr>
        <p:spPr>
          <a:xfrm>
            <a:off x="395932" y="353791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45F173-9783-F00E-C57D-F9975B88C19E}"/>
              </a:ext>
            </a:extLst>
          </p:cNvPr>
          <p:cNvSpPr txBox="1"/>
          <p:nvPr/>
        </p:nvSpPr>
        <p:spPr>
          <a:xfrm>
            <a:off x="1367929" y="2160612"/>
            <a:ext cx="116652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3300" dirty="0"/>
              <a:t>Todo proyecto debe analizarse desde diferentes perspectivas para asegurar su viabilidad.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3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3300" dirty="0"/>
              <a:t>Dos de los estudios más importantes son:</a:t>
            </a:r>
          </a:p>
          <a:p>
            <a:pPr marL="1074420" lvl="1" indent="-457200">
              <a:buFont typeface="+mj-lt"/>
              <a:buAutoNum type="arabicPeriod"/>
            </a:pPr>
            <a:r>
              <a:rPr lang="es-MX" sz="3300" dirty="0"/>
              <a:t>Evaluación Técnica</a:t>
            </a:r>
          </a:p>
          <a:p>
            <a:pPr marL="1074420" lvl="1" indent="-457200">
              <a:buFont typeface="+mj-lt"/>
              <a:buAutoNum type="arabicPeriod"/>
            </a:pPr>
            <a:r>
              <a:rPr lang="es-MX" sz="3300" dirty="0"/>
              <a:t>Evaluación Legal</a:t>
            </a:r>
          </a:p>
          <a:p>
            <a:pPr marL="457200" indent="-457200">
              <a:buFont typeface="+mj-lt"/>
              <a:buAutoNum type="arabicPeriod"/>
            </a:pPr>
            <a:endParaRPr lang="es-MX" sz="3300" dirty="0"/>
          </a:p>
          <a:p>
            <a:pPr marL="457200" indent="-457200">
              <a:buFont typeface="+mj-lt"/>
              <a:buAutoNum type="arabicPeriod"/>
            </a:pPr>
            <a:endParaRPr lang="es-MX" sz="3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3300" dirty="0"/>
              <a:t>Ambos permiten reducir riesgos y aumentar las probabilidades de éxito.</a:t>
            </a:r>
            <a:endParaRPr lang="es-CO" sz="3300" dirty="0"/>
          </a:p>
        </p:txBody>
      </p:sp>
      <p:pic>
        <p:nvPicPr>
          <p:cNvPr id="1026" name="Picture 2" descr="Icono De Concepto De Prueba Técnica PNG ,dibujos Firmar, Empleado, Contorno  PNG y Vector para Descargar Gratis | Pngtree">
            <a:extLst>
              <a:ext uri="{FF2B5EF4-FFF2-40B4-BE49-F238E27FC236}">
                <a16:creationId xmlns:a16="http://schemas.microsoft.com/office/drawing/2014/main" id="{F93698F8-9A36-50B2-9026-43A1B241A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04" b="26328"/>
          <a:stretch>
            <a:fillRect/>
          </a:stretch>
        </p:blipFill>
        <p:spPr bwMode="auto">
          <a:xfrm>
            <a:off x="9072783" y="3006465"/>
            <a:ext cx="3630879" cy="190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1AD436E-61F3-3EDC-5AFC-EC3A6F112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420" y="4726294"/>
            <a:ext cx="1253607" cy="125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3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253A4-31DC-8A2C-EC05-6A3979E7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873" y="720452"/>
            <a:ext cx="12312968" cy="1320271"/>
          </a:xfrm>
        </p:spPr>
        <p:txBody>
          <a:bodyPr>
            <a:normAutofit fontScale="90000"/>
          </a:bodyPr>
          <a:lstStyle/>
          <a:p>
            <a:r>
              <a:rPr lang="es-MX" sz="6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 Técnica de un Proyecto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DAC57B-FD9F-8F6C-5FC6-57243D651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MX" b="1" dirty="0"/>
              <a:t>Definición:</a:t>
            </a:r>
            <a:br>
              <a:rPr lang="es-MX" dirty="0"/>
            </a:br>
            <a:r>
              <a:rPr lang="es-MX" dirty="0"/>
              <a:t>Proceso que analiza si el proyecto puede llevarse a cabo desde el punto de vista </a:t>
            </a:r>
            <a:r>
              <a:rPr lang="es-MX" b="1" dirty="0"/>
              <a:t>operativo, tecnológico y de recursos</a:t>
            </a:r>
            <a:r>
              <a:rPr lang="es-MX" dirty="0"/>
              <a:t>.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b="1" dirty="0"/>
              <a:t>Aspectos que incluye: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Diseño del producto/servicio.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Capacidad instalada y localización.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Tecnología necesaria.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Disponibilidad de materiales, personal y equipos.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Cronograma de ejecución.</a:t>
            </a:r>
          </a:p>
          <a:p>
            <a:endParaRPr lang="es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4D769-C9DF-445A-2DD7-5786D737A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937" y="3312740"/>
            <a:ext cx="2901691" cy="446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30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/>
          <p:cNvSpPr txBox="1"/>
          <p:nvPr/>
        </p:nvSpPr>
        <p:spPr>
          <a:xfrm>
            <a:off x="647849" y="619328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de Evaluación Técnica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B9F2D9D-7B03-4614-6049-46160E85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43" y="2151047"/>
            <a:ext cx="12312968" cy="4915674"/>
          </a:xfrm>
        </p:spPr>
        <p:txBody>
          <a:bodyPr>
            <a:normAutofit/>
          </a:bodyPr>
          <a:lstStyle/>
          <a:p>
            <a:r>
              <a:rPr lang="es-MX" sz="3600" b="1" dirty="0"/>
              <a:t>Proyecto:</a:t>
            </a:r>
            <a:r>
              <a:rPr lang="es-MX" sz="3600" dirty="0"/>
              <a:t> Implementar una planta de reciclaje de plásticos.</a:t>
            </a:r>
          </a:p>
          <a:p>
            <a:r>
              <a:rPr lang="es-MX" sz="3600" b="1" dirty="0"/>
              <a:t>Ubicación óptima:</a:t>
            </a:r>
            <a:r>
              <a:rPr lang="es-MX" sz="3600" dirty="0"/>
              <a:t> cerca de fuentes de residuos.</a:t>
            </a:r>
          </a:p>
          <a:p>
            <a:r>
              <a:rPr lang="es-MX" sz="3600" b="1" dirty="0"/>
              <a:t>Tecnología requerida:</a:t>
            </a:r>
            <a:r>
              <a:rPr lang="es-MX" sz="3600" dirty="0"/>
              <a:t> máquinas trituradoras y extrusoras.</a:t>
            </a:r>
          </a:p>
          <a:p>
            <a:r>
              <a:rPr lang="es-MX" sz="3600" b="1" dirty="0"/>
              <a:t>Recursos humanos:</a:t>
            </a:r>
            <a:r>
              <a:rPr lang="es-MX" sz="3600" dirty="0"/>
              <a:t> ingenieros ambientales, operarios.</a:t>
            </a:r>
          </a:p>
          <a:p>
            <a:r>
              <a:rPr lang="es-MX" sz="3600" b="1" dirty="0"/>
              <a:t>Capacidad:</a:t>
            </a:r>
            <a:r>
              <a:rPr lang="es-MX" sz="3600" dirty="0"/>
              <a:t> procesar 10 toneladas/mes.</a:t>
            </a:r>
          </a:p>
          <a:p>
            <a:r>
              <a:rPr lang="es-MX" sz="3600" b="1" dirty="0"/>
              <a:t>Costo técnico estimado:</a:t>
            </a:r>
            <a:r>
              <a:rPr lang="es-MX" sz="3600" dirty="0"/>
              <a:t> $200.000.000 COP.</a:t>
            </a:r>
          </a:p>
          <a:p>
            <a:endParaRPr lang="es-CO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DE92ED-B836-7D96-52E0-FBAA12C47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873" y="4608884"/>
            <a:ext cx="3312741" cy="3312741"/>
          </a:xfrm>
          <a:prstGeom prst="rect">
            <a:avLst/>
          </a:prstGeom>
        </p:spPr>
      </p:pic>
      <p:pic>
        <p:nvPicPr>
          <p:cNvPr id="2056" name="Picture 8" descr="Proteccion ambiental - Iconos gratis de negocio">
            <a:extLst>
              <a:ext uri="{FF2B5EF4-FFF2-40B4-BE49-F238E27FC236}">
                <a16:creationId xmlns:a16="http://schemas.microsoft.com/office/drawing/2014/main" id="{8511411C-BE12-C7BF-DF3F-21026953A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3978" y="5427721"/>
            <a:ext cx="2277507" cy="227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24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C102-7665-D3B7-7A37-15BA61BC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9926439C-85A8-633D-6DE6-39461CBAEA7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D16D077D-D556-7C16-6F5A-03EA3F9B9C4F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Cuándo y por qué hacer la Evaluación Técnica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20AF525-8D74-46D2-8014-C5EE3007E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sz="3600" b="1" dirty="0"/>
              <a:t>Cuándo:</a:t>
            </a:r>
            <a:endParaRPr lang="es-MX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Antes de invertir en infraestructura.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En la etapa de factibilidad.</a:t>
            </a:r>
          </a:p>
          <a:p>
            <a:pPr>
              <a:buNone/>
            </a:pPr>
            <a:r>
              <a:rPr lang="es-MX" sz="3600" dirty="0"/>
              <a:t> </a:t>
            </a:r>
            <a:r>
              <a:rPr lang="es-MX" sz="3600" b="1" dirty="0"/>
              <a:t>Por qué:</a:t>
            </a:r>
            <a:endParaRPr lang="es-MX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Determina si el proyecto es </a:t>
            </a:r>
            <a:r>
              <a:rPr lang="es-MX" sz="3600" b="1" dirty="0"/>
              <a:t>realizable</a:t>
            </a:r>
            <a:r>
              <a:rPr lang="es-MX" sz="3600" dirty="0"/>
              <a:t> con los recursos disponibles.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Permite identificar </a:t>
            </a:r>
            <a:r>
              <a:rPr lang="es-MX" sz="3600" b="1" dirty="0"/>
              <a:t>riesgos técnicos</a:t>
            </a:r>
            <a:r>
              <a:rPr lang="es-MX" sz="3600" dirty="0"/>
              <a:t> y anticiparse a problemas.</a:t>
            </a:r>
          </a:p>
          <a:p>
            <a:endParaRPr lang="es-CO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E9DF24-101A-450F-165E-3BEEF3BD9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745" y="2045991"/>
            <a:ext cx="3886200" cy="238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3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F622-2368-3326-B5BB-B672D125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14D1866F-FAD9-70DF-898E-AD619363DC3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075" y="1254832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D1F6FFFD-8ED7-81E2-AB9F-C467B47BDFE6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 Legal de un Proyecto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4EF5636-DB2A-447C-585B-6FF0B30E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MX" sz="3900" b="1" dirty="0"/>
              <a:t>Definición:</a:t>
            </a:r>
            <a:br>
              <a:rPr lang="es-MX" sz="3900" dirty="0"/>
            </a:br>
            <a:r>
              <a:rPr lang="es-MX" sz="3900" dirty="0"/>
              <a:t>Análisis de las </a:t>
            </a:r>
            <a:r>
              <a:rPr lang="es-MX" sz="3900" b="1" dirty="0"/>
              <a:t>normas jurídicas</a:t>
            </a:r>
            <a:r>
              <a:rPr lang="es-MX" sz="3900" dirty="0"/>
              <a:t> que afectan al proyecto, asegurando que se cumplan todas las regulaciones.</a:t>
            </a:r>
          </a:p>
          <a:p>
            <a:pPr>
              <a:buNone/>
            </a:pPr>
            <a:r>
              <a:rPr lang="es-MX" sz="3900" b="1" dirty="0"/>
              <a:t>Aspectos que incluye:</a:t>
            </a:r>
            <a:endParaRPr lang="es-MX" sz="39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3900" dirty="0"/>
              <a:t>Permisos y licencias (ambientales, sanitarias, construcción).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900" dirty="0"/>
              <a:t>Normas laborales y de seguridad social.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900" dirty="0"/>
              <a:t>Legislación tributaria y fiscal.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900" dirty="0"/>
              <a:t>Propiedad intelectual y contratos.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900" dirty="0"/>
              <a:t>Normas de seguridad industrial.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7DBA4-40FC-6C19-1D94-C74D168E3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801" y="4392860"/>
            <a:ext cx="3402189" cy="353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9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E21D3-3DF5-4CAB-9A90-98E5A9CAC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BE0924C7-D015-DB40-CB4E-895CFC20E11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33DA6AC2-402C-C78D-FA1F-BBF848D6489C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de Evaluación Legal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6BC36E13-5102-2441-CD6D-52D58DD0D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42" y="2448644"/>
            <a:ext cx="12312968" cy="49156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sz="3600" b="1" dirty="0"/>
              <a:t>Proyecto:</a:t>
            </a:r>
            <a:r>
              <a:rPr lang="es-MX" sz="3600" dirty="0"/>
              <a:t> Planta de reciclaje de plásticos.</a:t>
            </a:r>
          </a:p>
          <a:p>
            <a:pPr>
              <a:buFont typeface="+mj-lt"/>
              <a:buAutoNum type="arabicPeriod"/>
            </a:pPr>
            <a:r>
              <a:rPr lang="es-MX" sz="3600" b="1" dirty="0"/>
              <a:t>Licencia ambiental</a:t>
            </a:r>
            <a:r>
              <a:rPr lang="es-MX" sz="3600" dirty="0"/>
              <a:t> para operación.</a:t>
            </a:r>
          </a:p>
          <a:p>
            <a:pPr>
              <a:buFont typeface="+mj-lt"/>
              <a:buAutoNum type="arabicPeriod"/>
            </a:pPr>
            <a:r>
              <a:rPr lang="es-MX" sz="3600" b="1" dirty="0"/>
              <a:t>Registro mercantil</a:t>
            </a:r>
            <a:r>
              <a:rPr lang="es-MX" sz="3600" dirty="0"/>
              <a:t> en Cámara de Comercio.</a:t>
            </a:r>
          </a:p>
          <a:p>
            <a:pPr>
              <a:buFont typeface="+mj-lt"/>
              <a:buAutoNum type="arabicPeriod"/>
            </a:pPr>
            <a:r>
              <a:rPr lang="es-MX" sz="3600" b="1" dirty="0"/>
              <a:t>Cumplimiento laboral:</a:t>
            </a:r>
            <a:r>
              <a:rPr lang="es-MX" sz="3600" dirty="0"/>
              <a:t> seguridad social de trabajadores.</a:t>
            </a:r>
          </a:p>
          <a:p>
            <a:pPr>
              <a:buFont typeface="+mj-lt"/>
              <a:buAutoNum type="arabicPeriod"/>
            </a:pPr>
            <a:r>
              <a:rPr lang="es-MX" sz="3600" b="1" dirty="0"/>
              <a:t>Normas de seguridad industrial</a:t>
            </a:r>
            <a:r>
              <a:rPr lang="es-MX" sz="3600" dirty="0"/>
              <a:t> para evitar accidentes.</a:t>
            </a:r>
          </a:p>
          <a:p>
            <a:pPr>
              <a:buFont typeface="+mj-lt"/>
              <a:buAutoNum type="arabicPeriod"/>
            </a:pPr>
            <a:r>
              <a:rPr lang="es-MX" sz="3600" b="1" dirty="0"/>
              <a:t>Convenios de recolección</a:t>
            </a:r>
            <a:r>
              <a:rPr lang="es-MX" sz="3600" dirty="0"/>
              <a:t> con alcaldías y empresas.</a:t>
            </a:r>
            <a:endParaRPr lang="es-MX" dirty="0"/>
          </a:p>
          <a:p>
            <a:endParaRPr lang="es-CO" dirty="0"/>
          </a:p>
        </p:txBody>
      </p:sp>
      <p:pic>
        <p:nvPicPr>
          <p:cNvPr id="4100" name="Picture 4" descr="Convenio - Iconos gratis de negocios y finanzas">
            <a:extLst>
              <a:ext uri="{FF2B5EF4-FFF2-40B4-BE49-F238E27FC236}">
                <a16:creationId xmlns:a16="http://schemas.microsoft.com/office/drawing/2014/main" id="{8C73A956-D533-1E6E-9F6C-988C4573B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937" y="1999240"/>
            <a:ext cx="2465628" cy="246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40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E85FA-5025-6FAE-BA6A-5DAF6CD6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5CB1FEFE-718E-DB93-DA4E-C47DFB7391EC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EDCE8BC5-96D5-5668-D828-1F8938BC94C1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Cuándo y por qué hacer la Evaluación Legal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3D20FF5-793B-858F-66F8-C7FDE41AE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sz="3600" b="1" dirty="0"/>
              <a:t>Cuándo:</a:t>
            </a:r>
            <a:endParaRPr lang="es-MX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Desde la </a:t>
            </a:r>
            <a:r>
              <a:rPr lang="es-MX" sz="3600" b="1" dirty="0"/>
              <a:t>etapa inicial</a:t>
            </a:r>
            <a:r>
              <a:rPr lang="es-MX" sz="3600" dirty="0"/>
              <a:t> de planeación.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Antes de iniciar operaciones.</a:t>
            </a:r>
          </a:p>
          <a:p>
            <a:pPr>
              <a:buNone/>
            </a:pPr>
            <a:r>
              <a:rPr lang="es-MX" sz="3600" b="1" dirty="0"/>
              <a:t>Por qué:</a:t>
            </a:r>
            <a:endParaRPr lang="es-MX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Evita sanciones, multas o cierres.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Garantiza que el proyecto opere en el marco legal.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600" dirty="0"/>
              <a:t>Genera confianza en inversionistas y aliados.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pic>
        <p:nvPicPr>
          <p:cNvPr id="5122" name="Picture 2" descr="Cuando - Iconos gratis de usuario">
            <a:extLst>
              <a:ext uri="{FF2B5EF4-FFF2-40B4-BE49-F238E27FC236}">
                <a16:creationId xmlns:a16="http://schemas.microsoft.com/office/drawing/2014/main" id="{B32F6C72-105E-38C0-35DE-DA75AAF8E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785" y="1852030"/>
            <a:ext cx="3467223" cy="3467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81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7023-9383-B364-BBF7-6B98E1C4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41E4ED53-FE30-7F0E-F40E-CE8EF6E71D13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E10226F5-18D4-739D-7036-EF42E474C6BA}"/>
              </a:ext>
            </a:extLst>
          </p:cNvPr>
          <p:cNvSpPr txBox="1"/>
          <p:nvPr/>
        </p:nvSpPr>
        <p:spPr>
          <a:xfrm>
            <a:off x="798372" y="768133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MX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CO" sz="4000" b="1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5FCE473-2988-8C03-6BAA-11E18E5ED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E7634B3-1938-C16B-7B51-4FD62FC0CA04}"/>
              </a:ext>
            </a:extLst>
          </p:cNvPr>
          <p:cNvSpPr txBox="1">
            <a:spLocks/>
          </p:cNvSpPr>
          <p:nvPr/>
        </p:nvSpPr>
        <p:spPr>
          <a:xfrm>
            <a:off x="836454" y="2313012"/>
            <a:ext cx="12312968" cy="4915674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>
            <a:lvl1pPr marL="462915" indent="-462915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02983" indent="-385763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2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9471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1193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91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463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600" dirty="0"/>
              <a:t>La evaluación técnica asegura que el proyecto sea viable y realizable.</a:t>
            </a:r>
          </a:p>
          <a:p>
            <a:r>
              <a:rPr lang="es-MX" sz="3600" dirty="0"/>
              <a:t>La evaluación legal garantiza que el proyecto sea seguro y cumpla las normas.</a:t>
            </a:r>
          </a:p>
          <a:p>
            <a:r>
              <a:rPr lang="es-MX" sz="3600" dirty="0"/>
              <a:t>Ambas deben hacerse antes de ejecutar el proyecto para prevenir riesgos.</a:t>
            </a:r>
          </a:p>
          <a:p>
            <a:r>
              <a:rPr lang="es-MX" sz="3600" dirty="0"/>
              <a:t>Un buen proyecto no solo es rentable, también debe ser factible y legal.</a:t>
            </a:r>
          </a:p>
          <a:p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90784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B0A71-5E83-B13E-47BC-BCBBFB9D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2 Imagen">
            <a:extLst>
              <a:ext uri="{FF2B5EF4-FFF2-40B4-BE49-F238E27FC236}">
                <a16:creationId xmlns:a16="http://schemas.microsoft.com/office/drawing/2014/main" id="{46D296F3-D3A5-8759-27A0-DE1B1285D32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297" y="1254833"/>
            <a:ext cx="11520000" cy="257707"/>
          </a:xfrm>
          <a:prstGeom prst="rect">
            <a:avLst/>
          </a:prstGeom>
        </p:spPr>
      </p:pic>
      <p:sp>
        <p:nvSpPr>
          <p:cNvPr id="5" name="3 CuadroTexto">
            <a:extLst>
              <a:ext uri="{FF2B5EF4-FFF2-40B4-BE49-F238E27FC236}">
                <a16:creationId xmlns:a16="http://schemas.microsoft.com/office/drawing/2014/main" id="{CFB3AC12-2D08-1A03-F563-E78720F7AA8D}"/>
              </a:ext>
            </a:extLst>
          </p:cNvPr>
          <p:cNvSpPr txBox="1"/>
          <p:nvPr/>
        </p:nvSpPr>
        <p:spPr>
          <a:xfrm>
            <a:off x="791865" y="648444"/>
            <a:ext cx="12889210" cy="615553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lvl="1" algn="ctr"/>
            <a:r>
              <a:rPr lang="es-CO" sz="40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BF68B2F3-C8CA-5F62-39FA-6C6F472E3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54" y="2160612"/>
            <a:ext cx="12312968" cy="491567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CO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EEE04614-CF66-A5F1-0E4C-CD4C808791C4}"/>
              </a:ext>
            </a:extLst>
          </p:cNvPr>
          <p:cNvSpPr txBox="1">
            <a:spLocks/>
          </p:cNvSpPr>
          <p:nvPr/>
        </p:nvSpPr>
        <p:spPr>
          <a:xfrm>
            <a:off x="836454" y="2313012"/>
            <a:ext cx="12312968" cy="3015952"/>
          </a:xfrm>
          <a:prstGeom prst="rect">
            <a:avLst/>
          </a:prstGeom>
        </p:spPr>
        <p:txBody>
          <a:bodyPr vert="horz" lIns="123444" tIns="61722" rIns="123444" bIns="61722" rtlCol="0">
            <a:normAutofit/>
          </a:bodyPr>
          <a:lstStyle>
            <a:lvl1pPr marL="462915" indent="-462915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02983" indent="-385763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2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7749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9471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1193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2915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46370" indent="-308610" algn="l" defTabSz="12344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3300" dirty="0"/>
              <a:t>¿Qué creen que es más importante primero: la evaluación técnica o la legal?</a:t>
            </a:r>
          </a:p>
          <a:p>
            <a:r>
              <a:rPr lang="es-MX" sz="3300" dirty="0"/>
              <a:t>¿Qué riesgos podría enfrentar un proyecto si NO se realiza la evaluación técnica?</a:t>
            </a:r>
          </a:p>
          <a:p>
            <a:r>
              <a:rPr lang="es-MX" sz="3300" dirty="0"/>
              <a:t>¿Qué pasa si un proyecto no cumple con la normativa legal?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65667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727969" y="527075"/>
            <a:ext cx="11953106" cy="769441"/>
          </a:xfrm>
          <a:prstGeom prst="rect">
            <a:avLst/>
          </a:prstGeom>
          <a:noFill/>
        </p:spPr>
        <p:txBody>
          <a:bodyPr wrap="square" lIns="180000" tIns="0" rIns="450000" bIns="0" rtlCol="0">
            <a:spAutoFit/>
          </a:bodyPr>
          <a:lstStyle/>
          <a:p>
            <a:pPr algn="ctr"/>
            <a:r>
              <a:rPr lang="en-US" sz="5000" b="1" spc="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G R A C I A S</a:t>
            </a:r>
          </a:p>
        </p:txBody>
      </p:sp>
    </p:spTree>
    <p:extLst>
      <p:ext uri="{BB962C8B-B14F-4D97-AF65-F5344CB8AC3E}">
        <p14:creationId xmlns:p14="http://schemas.microsoft.com/office/powerpoint/2010/main" val="85106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lantilla institucional UM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803a91-4225-4438-956e-631df955d3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31B4355E7EAF41A415B91B85DB042F" ma:contentTypeVersion="11" ma:contentTypeDescription="Crear nuevo documento." ma:contentTypeScope="" ma:versionID="3491d8d87a5ad3c5716dd54ad7eb87fd">
  <xsd:schema xmlns:xsd="http://www.w3.org/2001/XMLSchema" xmlns:xs="http://www.w3.org/2001/XMLSchema" xmlns:p="http://schemas.microsoft.com/office/2006/metadata/properties" xmlns:ns3="71803a91-4225-4438-956e-631df955d3c5" xmlns:ns4="07031661-6fd7-4f1c-985c-1f84ac770887" targetNamespace="http://schemas.microsoft.com/office/2006/metadata/properties" ma:root="true" ma:fieldsID="b58a508c7e52009d2055468b1261f22b" ns3:_="" ns4:_="">
    <xsd:import namespace="71803a91-4225-4438-956e-631df955d3c5"/>
    <xsd:import namespace="07031661-6fd7-4f1c-985c-1f84ac77088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803a91-4225-4438-956e-631df955d3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31661-6fd7-4f1c-985c-1f84ac77088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4BF3B5-3599-4F9D-97D7-B2E5D1266E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FAE1EE-074A-4F92-AC93-625A2380FFDA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07031661-6fd7-4f1c-985c-1f84ac770887"/>
    <ds:schemaRef ds:uri="http://schemas.microsoft.com/office/infopath/2007/PartnerControls"/>
    <ds:schemaRef ds:uri="http://schemas.openxmlformats.org/package/2006/metadata/core-properties"/>
    <ds:schemaRef ds:uri="71803a91-4225-4438-956e-631df955d3c5"/>
  </ds:schemaRefs>
</ds:datastoreItem>
</file>

<file path=customXml/itemProps3.xml><?xml version="1.0" encoding="utf-8"?>
<ds:datastoreItem xmlns:ds="http://schemas.openxmlformats.org/officeDocument/2006/customXml" ds:itemID="{52E77482-214C-493D-B51C-3FA7F641C0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803a91-4225-4438-956e-631df955d3c5"/>
    <ds:schemaRef ds:uri="07031661-6fd7-4f1c-985c-1f84ac7708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institucional UMNG</Template>
  <TotalTime>5556</TotalTime>
  <Words>479</Words>
  <Application>Microsoft Macintosh PowerPoint</Application>
  <PresentationFormat>Custom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Plantilla institucional UMNG</vt:lpstr>
      <vt:lpstr>PowerPoint Presentation</vt:lpstr>
      <vt:lpstr>PowerPoint Presentation</vt:lpstr>
      <vt:lpstr>Evaluación Técnica de un Proyecto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UNIVERSIDAD MILITAR NUEVA GRANADA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Diana Guayara</dc:creator>
  <cp:lastModifiedBy>Andrea del Pilar Diaz</cp:lastModifiedBy>
  <cp:revision>381</cp:revision>
  <dcterms:created xsi:type="dcterms:W3CDTF">2014-07-29T18:42:26Z</dcterms:created>
  <dcterms:modified xsi:type="dcterms:W3CDTF">2025-08-30T01:54:30Z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0x0101002B31B4355E7EAF41A415B91B85DB042F</vt:lpwstr>
  </property>
</Properties>
</file>