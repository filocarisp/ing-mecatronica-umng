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71" r:id="rId5"/>
    <p:sldId id="257" r:id="rId6"/>
    <p:sldId id="258" r:id="rId7"/>
    <p:sldId id="259" r:id="rId8"/>
    <p:sldId id="260" r:id="rId9"/>
    <p:sldId id="272" r:id="rId10"/>
    <p:sldId id="273" r:id="rId11"/>
    <p:sldId id="274" r:id="rId12"/>
    <p:sldId id="275" r:id="rId13"/>
    <p:sldId id="276" r:id="rId14"/>
    <p:sldId id="277" r:id="rId15"/>
    <p:sldId id="264" r:id="rId16"/>
    <p:sldId id="265" r:id="rId17"/>
    <p:sldId id="266" r:id="rId18"/>
  </p:sldIdLst>
  <p:sldSz cx="13681075" cy="7921625"/>
  <p:notesSz cx="6858000" cy="9144000"/>
  <p:defaultTextStyle>
    <a:defPPr>
      <a:defRPr lang="en-US"/>
    </a:defPPr>
    <a:lvl1pPr marL="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72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344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516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6888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8610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7033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3205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9377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>
          <p15:clr>
            <a:srgbClr val="A4A3A4"/>
          </p15:clr>
        </p15:guide>
        <p15:guide id="2" pos="430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ca Palacios" initials="AP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99FF"/>
    <a:srgbClr val="3399FF"/>
    <a:srgbClr val="33CCCC"/>
    <a:srgbClr val="969696"/>
    <a:srgbClr val="33CCFF"/>
    <a:srgbClr val="99FFCC"/>
    <a:srgbClr val="CCFFCC"/>
    <a:srgbClr val="4D5B8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2E079-85FC-4F62-9650-6D0A97BC9904}" v="34" dt="2025-08-30T00:47:15.4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9" autoAdjust="0"/>
    <p:restoredTop sz="86757" autoAdjust="0"/>
  </p:normalViewPr>
  <p:slideViewPr>
    <p:cSldViewPr>
      <p:cViewPr varScale="1">
        <p:scale>
          <a:sx n="77" d="100"/>
          <a:sy n="77" d="100"/>
        </p:scale>
        <p:origin x="504" y="43"/>
      </p:cViewPr>
      <p:guideLst>
        <p:guide orient="horz" pos="2495"/>
        <p:guide pos="43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F04D6-F2E9-42B5-8AC2-DF20326E6314}" type="datetimeFigureOut">
              <a:rPr lang="es-CO" smtClean="0"/>
              <a:pPr/>
              <a:t>6/09/2025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63588" y="1143000"/>
            <a:ext cx="533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DC8C2-87C0-4F1C-B2D8-D91592B3EE5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236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026081" y="2460839"/>
            <a:ext cx="11628914" cy="169801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52161" y="4488921"/>
            <a:ext cx="9576753" cy="20244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37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4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711" y="5090378"/>
            <a:ext cx="11628914" cy="1573323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711" y="3357523"/>
            <a:ext cx="11628914" cy="1732855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722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3444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516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688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861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7033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3205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9377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23707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348690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5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773198"/>
            <a:ext cx="6044851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84054" y="2512182"/>
            <a:ext cx="6044851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949797" y="1773198"/>
            <a:ext cx="6047225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949797" y="2512182"/>
            <a:ext cx="6047225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0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6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5" y="315398"/>
            <a:ext cx="4500979" cy="134227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48920" y="315399"/>
            <a:ext cx="7648101" cy="6760887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84055" y="1657674"/>
            <a:ext cx="4500979" cy="5418612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6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81586" y="5545137"/>
            <a:ext cx="8208645" cy="65463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681586" y="707812"/>
            <a:ext cx="8208645" cy="4752975"/>
          </a:xfrm>
        </p:spPr>
        <p:txBody>
          <a:bodyPr/>
          <a:lstStyle>
            <a:lvl1pPr marL="0" indent="0">
              <a:buNone/>
              <a:defRPr sz="4300"/>
            </a:lvl1pPr>
            <a:lvl2pPr marL="617220" indent="0">
              <a:buNone/>
              <a:defRPr sz="3800"/>
            </a:lvl2pPr>
            <a:lvl3pPr marL="1234440" indent="0">
              <a:buNone/>
              <a:defRPr sz="3200"/>
            </a:lvl3pPr>
            <a:lvl4pPr marL="1851660" indent="0">
              <a:buNone/>
              <a:defRPr sz="2700"/>
            </a:lvl4pPr>
            <a:lvl5pPr marL="2468880" indent="0">
              <a:buNone/>
              <a:defRPr sz="2700"/>
            </a:lvl5pPr>
            <a:lvl6pPr marL="3086100" indent="0">
              <a:buNone/>
              <a:defRPr sz="2700"/>
            </a:lvl6pPr>
            <a:lvl7pPr marL="3703320" indent="0">
              <a:buNone/>
              <a:defRPr sz="2700"/>
            </a:lvl7pPr>
            <a:lvl8pPr marL="4320540" indent="0">
              <a:buNone/>
              <a:defRPr sz="2700"/>
            </a:lvl8pPr>
            <a:lvl9pPr marL="4937760" indent="0">
              <a:buNone/>
              <a:defRPr sz="27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681586" y="6199772"/>
            <a:ext cx="8208645" cy="929690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4840167" y="366742"/>
            <a:ext cx="4605488" cy="78079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023707" y="366742"/>
            <a:ext cx="13588442" cy="780793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2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  <a:prstGeom prst="rect">
            <a:avLst/>
          </a:prstGeom>
        </p:spPr>
        <p:txBody>
          <a:bodyPr vert="horz" lIns="123444" tIns="61722" rIns="123444" bIns="61722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848380"/>
            <a:ext cx="12312968" cy="5227906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84054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674368" y="7342173"/>
            <a:ext cx="4332340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804770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3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3444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2915" indent="-462915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02983" indent="-385763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430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7749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9471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1193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291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2463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516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8610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7033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377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616401" y="3744788"/>
            <a:ext cx="778753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0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Andres</a:t>
            </a:r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Camilo Bernal Ospina</a:t>
            </a:r>
            <a:r>
              <a:rPr kumimoji="0" lang="es-CO" sz="4000" b="1" i="1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7003932 </a:t>
            </a: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376041" y="864468"/>
            <a:ext cx="88929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123444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Evaluación de Recursos y Estudios para Proyectos</a:t>
            </a: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287809" y="2664668"/>
            <a:ext cx="592359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Ingeniería Económica</a:t>
            </a: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Ingeniería en Mecatronica</a:t>
            </a: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2025</a:t>
            </a: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72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Evaluación de recursos de un proyecto</a:t>
            </a:r>
          </a:p>
          <a:p>
            <a:r>
              <a:t>2. Estudios ambientales</a:t>
            </a:r>
          </a:p>
          <a:p>
            <a:r>
              <a:t>3. Estudios de mercado</a:t>
            </a:r>
          </a:p>
          <a:p>
            <a:r>
              <a:t>4. Ejemplo aplicado (planta de reciclaje)</a:t>
            </a:r>
          </a:p>
          <a:p>
            <a:r>
              <a:t>5.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905" y="1008484"/>
            <a:ext cx="12312968" cy="1320271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la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 de un </a:t>
            </a:r>
            <a:r>
              <a:rPr dirty="0" err="1"/>
              <a:t>proyecto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41" y="2880692"/>
            <a:ext cx="12529392" cy="4546292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Definición breve: análisis de insumos necesarios para ejecutar y mantener el proyecto.</a:t>
            </a:r>
          </a:p>
          <a:p>
            <a:pPr marL="0" indent="0">
              <a:buNone/>
            </a:pPr>
            <a:endParaRPr lang="es-CO" dirty="0"/>
          </a:p>
          <a:p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insumos</a:t>
            </a:r>
            <a:r>
              <a:rPr dirty="0"/>
              <a:t> </a:t>
            </a:r>
            <a:r>
              <a:rPr dirty="0" err="1"/>
              <a:t>necesarios</a:t>
            </a:r>
            <a:r>
              <a:rPr dirty="0"/>
              <a:t>: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, </a:t>
            </a:r>
            <a:r>
              <a:rPr dirty="0" err="1"/>
              <a:t>materiales</a:t>
            </a:r>
            <a:r>
              <a:rPr dirty="0"/>
              <a:t>, </a:t>
            </a:r>
            <a:r>
              <a:rPr dirty="0" err="1"/>
              <a:t>equipos</a:t>
            </a:r>
            <a:r>
              <a:rPr dirty="0"/>
              <a:t>, </a:t>
            </a:r>
            <a:r>
              <a:rPr dirty="0" err="1"/>
              <a:t>infraestructura</a:t>
            </a:r>
            <a:r>
              <a:rPr dirty="0"/>
              <a:t>, </a:t>
            </a:r>
            <a:r>
              <a:rPr dirty="0" err="1"/>
              <a:t>financieros</a:t>
            </a:r>
            <a:r>
              <a:rPr dirty="0"/>
              <a:t>, </a:t>
            </a:r>
            <a:r>
              <a:rPr dirty="0" err="1"/>
              <a:t>tecnológicos</a:t>
            </a:r>
            <a:r>
              <a:rPr dirty="0"/>
              <a:t> y </a:t>
            </a:r>
            <a:r>
              <a:rPr dirty="0" err="1"/>
              <a:t>logísticos</a:t>
            </a:r>
            <a:r>
              <a:rPr dirty="0"/>
              <a:t>.</a:t>
            </a:r>
            <a:endParaRPr lang="es-CO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determinar</a:t>
            </a:r>
            <a:r>
              <a:rPr dirty="0"/>
              <a:t> </a:t>
            </a:r>
            <a:r>
              <a:rPr dirty="0" err="1"/>
              <a:t>existencia</a:t>
            </a:r>
            <a:r>
              <a:rPr dirty="0"/>
              <a:t>, </a:t>
            </a:r>
            <a:r>
              <a:rPr dirty="0" err="1"/>
              <a:t>costos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obtenerlos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897" y="562344"/>
            <a:ext cx="12312968" cy="1320271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53" y="2016595"/>
            <a:ext cx="12493188" cy="508661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MX" dirty="0"/>
              <a:t>Identificar requerimientos (lista de recursos por actividad).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Cuantificar capacidades y cantidades (capacidad instalada, tasas de producción).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Analizar disponibilidad y proveedores (plazos, calidad, contratos).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Estimar costos (</a:t>
            </a:r>
            <a:r>
              <a:rPr lang="es-MX" dirty="0" err="1"/>
              <a:t>capex</a:t>
            </a:r>
            <a:r>
              <a:rPr lang="es-MX" dirty="0"/>
              <a:t>, </a:t>
            </a:r>
            <a:r>
              <a:rPr lang="es-MX" dirty="0" err="1"/>
              <a:t>opex</a:t>
            </a:r>
            <a:r>
              <a:rPr lang="es-MX" dirty="0"/>
              <a:t>) y calendario de adquisición.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Evaluar riesgos y planes de contingencia (falta de insumos, falla de equipos).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Resultado: presupuesto de recursos, cronograma y matriz de responsabilidades.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Cuándo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54" y="2664668"/>
            <a:ext cx="7020579" cy="4536504"/>
          </a:xfrm>
        </p:spPr>
        <p:txBody>
          <a:bodyPr/>
          <a:lstStyle/>
          <a:p>
            <a:pPr algn="just"/>
            <a:r>
              <a:rPr dirty="0"/>
              <a:t>En </a:t>
            </a:r>
            <a:r>
              <a:rPr dirty="0" err="1"/>
              <a:t>prefactibilidad</a:t>
            </a:r>
            <a:r>
              <a:rPr dirty="0"/>
              <a:t> y </a:t>
            </a:r>
            <a:r>
              <a:rPr dirty="0" err="1"/>
              <a:t>factibilidad</a:t>
            </a:r>
            <a:endParaRPr dirty="0"/>
          </a:p>
          <a:p>
            <a:pPr algn="just"/>
            <a:r>
              <a:rPr dirty="0"/>
              <a:t>Durante </a:t>
            </a:r>
            <a:r>
              <a:rPr dirty="0" err="1"/>
              <a:t>planificación</a:t>
            </a:r>
            <a:r>
              <a:rPr dirty="0"/>
              <a:t> </a:t>
            </a:r>
            <a:r>
              <a:rPr dirty="0" err="1"/>
              <a:t>detallada</a:t>
            </a:r>
            <a:endParaRPr dirty="0"/>
          </a:p>
          <a:p>
            <a:pPr algn="just"/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periódica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cambian</a:t>
            </a:r>
            <a:r>
              <a:rPr dirty="0"/>
              <a:t> </a:t>
            </a:r>
            <a:r>
              <a:rPr dirty="0" err="1"/>
              <a:t>supuestos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F78E-C388-D5D8-FAC8-7F919899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67B6-DA78-1DCC-4B54-DEE55190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905" y="1008484"/>
            <a:ext cx="12312968" cy="1320271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lang="es-CO" dirty="0"/>
              <a:t>son los estudios ambientales </a:t>
            </a:r>
            <a:r>
              <a:rPr dirty="0"/>
              <a:t>de un Proyecto?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BA870-7EBC-CC0B-D97D-F6E5D4992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41" y="2880692"/>
            <a:ext cx="12529392" cy="4546292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Definición: análisis del impacto que el proyecto generará sobre el medio ambiente y la población.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Incluye: diagnóstico ambiental, identificación de impactos, medidas de mitigación, plan de manejo ambiental (PMA) y seguimiento.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Tipos: evaluación de impacto ambiental (EIA), estudios de líneas base, estudios de ruido, calidad de agua y aire, gestión de residuos.</a:t>
            </a:r>
          </a:p>
        </p:txBody>
      </p:sp>
    </p:spTree>
    <p:extLst>
      <p:ext uri="{BB962C8B-B14F-4D97-AF65-F5344CB8AC3E}">
        <p14:creationId xmlns:p14="http://schemas.microsoft.com/office/powerpoint/2010/main" val="208857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1CBE-2210-916B-58E8-019DCC706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0BA4-74C4-7B31-2A28-2BD2699C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897" y="562344"/>
            <a:ext cx="12312968" cy="1320271"/>
          </a:xfrm>
        </p:spPr>
        <p:txBody>
          <a:bodyPr>
            <a:normAutofit/>
          </a:bodyPr>
          <a:lstStyle/>
          <a:p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</a:t>
            </a:r>
            <a:r>
              <a:rPr lang="es-CO" dirty="0"/>
              <a:t>un estudio ambienta</a:t>
            </a:r>
            <a:r>
              <a:rPr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1FB77-20AE-35E0-7A24-930EAF81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3" y="2016595"/>
            <a:ext cx="12493188" cy="508661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dirty="0"/>
              <a:t>Recolección de información de línea base (biológica, física, social).Identificación y valoración de impactos (positivos y negativos).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Propuesta de medidas de prevención, mitigación, compensación y manejo.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Elaboración del Plan de Manejo Ambiental y programas de seguimiento.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Gestión de permisos y trámites ambientales ante autoridades </a:t>
            </a:r>
            <a:r>
              <a:rPr lang="es-MX" dirty="0" err="1"/>
              <a:t>competentes.Participación</a:t>
            </a:r>
            <a:r>
              <a:rPr lang="es-MX" dirty="0"/>
              <a:t> comunitaria y consulta si aplica.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1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82E1-C6B9-5ADA-1F5E-F582BCA9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1AC1-E8BF-4332-DE43-F226FA6B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lang="es-MX" dirty="0"/>
              <a:t>¿Cuándo se realiza el estudio ambiental?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4246-960B-BD7D-424F-C26240CED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664668"/>
            <a:ext cx="7020579" cy="453650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Desde la etapa de factibilidad, antes de la ejecución y obtención de licencias.</a:t>
            </a:r>
          </a:p>
          <a:p>
            <a:pPr algn="just"/>
            <a:r>
              <a:rPr lang="es-MX" dirty="0"/>
              <a:t>Para trámites de licencia ambiental o permisos sectoriales (previo a operación).</a:t>
            </a:r>
          </a:p>
          <a:p>
            <a:pPr algn="just"/>
            <a:r>
              <a:rPr lang="es-MX" dirty="0"/>
              <a:t>Cuando hay cambios significativos en el proyecto que afecten el entorno.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64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0401-5826-5334-D4BC-F0D8E5A8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8631-D79B-2B2C-385D-491C4735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lang="es-CO" dirty="0"/>
              <a:t>Estudios de mercado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6BEA-90CC-00A0-1F26-39AF618C2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664668"/>
            <a:ext cx="12312967" cy="4896544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/>
              <a:t>Definición: análisis del entorno comercial donde operará el proyecto: demanda, oferta, precios, canales y usuarios.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Objetivo: validar la aceptación, tamaño de mercado y condiciones comerciales para vender el producto o servicio.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4507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A4BB-5A85-EF5F-C599-5E52E44B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1836-70EA-EAA6-601A-CE7A6EBF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897" y="562344"/>
            <a:ext cx="12312968" cy="1320271"/>
          </a:xfrm>
        </p:spPr>
        <p:txBody>
          <a:bodyPr>
            <a:normAutofit/>
          </a:bodyPr>
          <a:lstStyle/>
          <a:p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</a:t>
            </a:r>
            <a:r>
              <a:rPr lang="es-CO" dirty="0"/>
              <a:t>un estudio ambienta</a:t>
            </a:r>
            <a:r>
              <a:rPr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2E57-2F06-32B1-B9A0-E27728A93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3" y="2016595"/>
            <a:ext cx="12493188" cy="508661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MX" dirty="0"/>
              <a:t>Definir producto/servicio y segmentos de clientes.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Investigar demanda potencial (encuestas, entrevistas, fuentes secundarias).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Analizar competencia y oferta (capacidades, precios, propuestas de valor).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Estudiar canales de comercialización y </a:t>
            </a:r>
            <a:r>
              <a:rPr lang="es-MX" dirty="0" err="1"/>
              <a:t>logística.Estimar</a:t>
            </a:r>
            <a:r>
              <a:rPr lang="es-MX" dirty="0"/>
              <a:t> precios, participación de mercado y proyecciones de ventas.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8196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0119-869F-F7EF-5380-45C5C0CF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73DB-786A-9F0E-2BB3-D040A92D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lang="es-MX" dirty="0"/>
              <a:t>¿Cuándo se hace el estudio de mercado?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BC35-0B98-3110-F672-015EE30C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664668"/>
            <a:ext cx="7020579" cy="4536504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/>
              <a:t>En la fase de prefactibilidad y factibilidad.</a:t>
            </a:r>
          </a:p>
          <a:p>
            <a:pPr algn="just"/>
            <a:r>
              <a:rPr lang="es-MX" dirty="0"/>
              <a:t>Antes de lanzar producto/servicio.</a:t>
            </a:r>
          </a:p>
          <a:p>
            <a:pPr algn="just"/>
            <a:r>
              <a:rPr lang="es-MX" dirty="0"/>
              <a:t>Cuando se realizan </a:t>
            </a:r>
            <a:r>
              <a:rPr lang="es-MX" dirty="0" err="1"/>
              <a:t>pivot</a:t>
            </a:r>
            <a:r>
              <a:rPr lang="es-MX" dirty="0"/>
              <a:t> o ajustes de modelo de negocio.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82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7023-9383-B364-BBF7-6B98E1C4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1E4ED53-FE30-7F0E-F40E-CE8EF6E71D1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E10226F5-18D4-739D-7036-EF42E474C6BA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5FCE473-2988-8C03-6BAA-11E18E5ED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Realizar las tres evaluaciones de manera integrada: técnica, ambiental y mercado.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Hacer la evaluación de recursos y estudio de mercado en prefactibilidad; estudios ambientales para licencias antes de operación.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Incluir análisis de riesgos, sensibilidad y un plan de mitigación.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Recomendación: validar proveedores y clientes mediante acuerdos preliminares.</a:t>
            </a:r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E7634B3-1938-C16B-7B51-4FD62FC0CA0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4915674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078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0A71-5E83-B13E-47BC-BCBBFB9D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6D296F3-D3A5-8759-27A0-DE1B1285D32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CFB3AC12-2D08-1A03-F563-E78720F7AA8D}"/>
              </a:ext>
            </a:extLst>
          </p:cNvPr>
          <p:cNvSpPr txBox="1"/>
          <p:nvPr/>
        </p:nvSpPr>
        <p:spPr>
          <a:xfrm>
            <a:off x="791865" y="648444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F68B2F3-C8CA-5F62-39FA-6C6F472E3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EE04614-CF66-A5F1-0E4C-CD4C808791C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3015952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300" dirty="0"/>
              <a:t>¿Qué creen que es más importante primero: la evaluación técnica o la legal?</a:t>
            </a:r>
          </a:p>
          <a:p>
            <a:r>
              <a:rPr lang="es-MX" sz="3300" dirty="0"/>
              <a:t>¿Qué riesgos podría enfrentar un proyecto si NO se realiza la evaluación técnica?</a:t>
            </a:r>
          </a:p>
          <a:p>
            <a:r>
              <a:rPr lang="es-MX" sz="3300" dirty="0"/>
              <a:t>¿Qué pasa si un proyecto no cumple con la normativa legal?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6566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727969" y="527075"/>
            <a:ext cx="11953106" cy="769441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algn="ctr"/>
            <a:r>
              <a:rPr lang="en-US" sz="5000" b="1" spc="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G R A C I A S</a:t>
            </a:r>
          </a:p>
        </p:txBody>
      </p:sp>
    </p:spTree>
    <p:extLst>
      <p:ext uri="{BB962C8B-B14F-4D97-AF65-F5344CB8AC3E}">
        <p14:creationId xmlns:p14="http://schemas.microsoft.com/office/powerpoint/2010/main" val="8510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lantilla institucional UM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803a91-4225-4438-956e-631df955d3c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31B4355E7EAF41A415B91B85DB042F" ma:contentTypeVersion="11" ma:contentTypeDescription="Crear nuevo documento." ma:contentTypeScope="" ma:versionID="3491d8d87a5ad3c5716dd54ad7eb87fd">
  <xsd:schema xmlns:xsd="http://www.w3.org/2001/XMLSchema" xmlns:xs="http://www.w3.org/2001/XMLSchema" xmlns:p="http://schemas.microsoft.com/office/2006/metadata/properties" xmlns:ns3="71803a91-4225-4438-956e-631df955d3c5" xmlns:ns4="07031661-6fd7-4f1c-985c-1f84ac770887" targetNamespace="http://schemas.microsoft.com/office/2006/metadata/properties" ma:root="true" ma:fieldsID="b58a508c7e52009d2055468b1261f22b" ns3:_="" ns4:_="">
    <xsd:import namespace="71803a91-4225-4438-956e-631df955d3c5"/>
    <xsd:import namespace="07031661-6fd7-4f1c-985c-1f84ac7708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03a91-4225-4438-956e-631df955d3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31661-6fd7-4f1c-985c-1f84ac77088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FAE1EE-074A-4F92-AC93-625A2380FFDA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07031661-6fd7-4f1c-985c-1f84ac770887"/>
    <ds:schemaRef ds:uri="http://schemas.microsoft.com/office/infopath/2007/PartnerControls"/>
    <ds:schemaRef ds:uri="http://schemas.openxmlformats.org/package/2006/metadata/core-properties"/>
    <ds:schemaRef ds:uri="71803a91-4225-4438-956e-631df955d3c5"/>
  </ds:schemaRefs>
</ds:datastoreItem>
</file>

<file path=customXml/itemProps2.xml><?xml version="1.0" encoding="utf-8"?>
<ds:datastoreItem xmlns:ds="http://schemas.openxmlformats.org/officeDocument/2006/customXml" ds:itemID="{52E77482-214C-493D-B51C-3FA7F641C0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803a91-4225-4438-956e-631df955d3c5"/>
    <ds:schemaRef ds:uri="07031661-6fd7-4f1c-985c-1f84ac7708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4BF3B5-3599-4F9D-97D7-B2E5D1266E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institucional UMNG</Template>
  <TotalTime>5624</TotalTime>
  <Words>649</Words>
  <Application>Microsoft Office PowerPoint</Application>
  <PresentationFormat>Personalizado</PresentationFormat>
  <Paragraphs>81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Plantilla institucional UMNG</vt:lpstr>
      <vt:lpstr>Presentación de PowerPoint</vt:lpstr>
      <vt:lpstr>Agenda</vt:lpstr>
      <vt:lpstr>¿Qué es la evaluación de recursos de un proyecto?</vt:lpstr>
      <vt:lpstr>¿Cómo se hace la evaluación de recursos?</vt:lpstr>
      <vt:lpstr>¿Cuándo se hace la evaluación de recursos?</vt:lpstr>
      <vt:lpstr>¿Qué son los estudios ambientales de un Proyecto?</vt:lpstr>
      <vt:lpstr>¿Cómo se hace un estudio ambienta?</vt:lpstr>
      <vt:lpstr>¿Cuándo se realiza el estudio ambiental?</vt:lpstr>
      <vt:lpstr>Estudios de mercado</vt:lpstr>
      <vt:lpstr>¿Cómo se hace un estudio ambienta?</vt:lpstr>
      <vt:lpstr>¿Cuándo se hace el estudio de mercado?</vt:lpstr>
      <vt:lpstr>Presentación de PowerPoint</vt:lpstr>
      <vt:lpstr>Presentación de PowerPoint</vt:lpstr>
      <vt:lpstr>Presentación de PowerPoint</vt:lpstr>
    </vt:vector>
  </TitlesOfParts>
  <Company>UNIVERSIDAD MILITAR NUEVA GRANADA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Guayara</dc:creator>
  <cp:lastModifiedBy>Filocaris Triana Pinzón</cp:lastModifiedBy>
  <cp:revision>383</cp:revision>
  <dcterms:created xsi:type="dcterms:W3CDTF">2014-07-29T18:42:26Z</dcterms:created>
  <dcterms:modified xsi:type="dcterms:W3CDTF">2025-09-06T15:58:24Z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0x0101002B31B4355E7EAF41A415B91B85DB042F</vt:lpwstr>
  </property>
</Properties>
</file>